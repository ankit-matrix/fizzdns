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~2 min.</a:t>
            </a:r>
            <a:br>
              <a:rPr lang="en-US"/>
            </a:br>
            <a:br>
              <a:rPr lang="en-US"/>
            </a:br>
            <a:r>
              <a:rPr lang="en-US"/>
              <a:t>Open with the SHAPE of the problem, not the technology. A DNS query is tiny and latency-critical — the worst case for a stack paying a fixed per-packet cost.</a:t>
            </a:r>
            <a:br>
              <a:rPr lang="en-US"/>
            </a:br>
            <a:br>
              <a:rPr lang="en-US"/>
            </a:br>
            <a:r>
              <a:rPr lang="en-US"/>
              <a:t>O2 is the one to stress: the control arm is what makes this an experiment rather than a demo. Both arms link the identical .o file.</a:t>
            </a:r>
            <a:br>
              <a:rPr lang="en-US"/>
            </a:br>
            <a:br>
              <a:rPr lang="en-US"/>
            </a:br>
            <a:r>
              <a:rPr lang="en-US"/>
              <a:t>O3 is marked 'partial' deliberately — the transport table is not yet populated. Say so here, briefly, rather than letting it surface as a gap in Q&amp;A.</a:t>
            </a:r>
            <a:br>
              <a:rPr lang="en-US"/>
            </a:br>
            <a:br>
              <a:rPr lang="en-US"/>
            </a:br>
            <a:r>
              <a:rPr lang="en-US"/>
              <a:t>The yellow strip: naming what you did NOT do buys credibility for everything you claim you did.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~4 min. The core technical slide.</a:t>
            </a:r>
            <a:br>
              <a:rPr lang="en-US"/>
            </a:br>
            <a:br>
              <a:rPr lang="en-US"/>
            </a:br>
            <a:r>
              <a:rPr lang="en-US"/>
              <a:t>Amber = kernel side, teal = user side, used consistently across the deck.</a:t>
            </a:r>
            <a:br>
              <a:rPr lang="en-US"/>
            </a:br>
            <a:br>
              <a:rPr lang="en-US"/>
            </a:br>
            <a:r>
              <a:rPr lang="en-US"/>
              <a:t>Name ctx-&gt;rx_queue_index explicitly — it is why multi-core later needed ZERO change to the BPF object.</a:t>
            </a:r>
            <a:br>
              <a:rPr lang="en-US"/>
            </a:br>
            <a:br>
              <a:rPr lang="en-US"/>
            </a:br>
            <a:r>
              <a:rPr lang="en-US"/>
              <a:t>The dark panel is the strongest viva material in the project. Emphasise that the wrong design PASSES a functional test; it only fails under concurrent load, and it fails in a way you would misattribute.</a:t>
            </a:r>
            <a:br>
              <a:rPr lang="en-US"/>
            </a:br>
            <a:br>
              <a:rPr lang="en-US"/>
            </a:br>
            <a:r>
              <a:rPr lang="en-US"/>
              <a:t>The right panel is the methodology defence — expect 'how do you know the difference is the transport?' and this is the answer.</a:t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~4.5 min. The most important slide.</a:t>
            </a:r>
            <a:br>
              <a:rPr lang="en-US"/>
            </a:br>
            <a:br>
              <a:rPr lang="en-US"/>
            </a:br>
            <a:r>
              <a:rPr lang="en-US"/>
              <a:t>LEAD WITH THE CHART. Say: 'We predicted the saving comes from skipping a CONTENDED mutex. That prediction is falsifiable — if we were wrong, the speedup would be flat across thread counts. It is 1.38, 2.78, 3.10, 3.79. Monotonic. The hypothesis held.'</a:t>
            </a:r>
            <a:br>
              <a:rPr lang="en-US"/>
            </a:br>
            <a:br>
              <a:rPr lang="en-US"/>
            </a:br>
            <a:r>
              <a:rPr lang="en-US"/>
              <a:t>That sentence is worth more than any absolute number, because it shows you designed an experiment rather than just reporting a benchmark.</a:t>
            </a:r>
            <a:br>
              <a:rPr lang="en-US"/>
            </a:br>
            <a:br>
              <a:rPr lang="en-US"/>
            </a:br>
            <a:r>
              <a:rPr lang="en-US"/>
              <a:t>The throughput line is the other half: without the filter, throughput COLLAPSES from 5.93 to 1.96 Mlookup/s as threads rise. With it, flat.</a:t>
            </a:r>
            <a:br>
              <a:rPr lang="en-US"/>
            </a:br>
            <a:br>
              <a:rPr lang="en-US"/>
            </a:br>
            <a:r>
              <a:rPr lang="en-US"/>
              <a:t>On the red strip: pick ONE bug to tell properly — the TC bit is the most relatable (dig failed intermittently because the truncation path read the header before anything wrote it).</a:t>
            </a:r>
            <a:br>
              <a:rPr lang="en-US"/>
            </a:br>
            <a:br>
              <a:rPr lang="en-US"/>
            </a:br>
            <a:r>
              <a:rPr lang="en-US"/>
              <a:t>If asked why the filter doesn't speed up hits: it shouldn't. A hit still walks the bucket. The filter only saves the mutex on a miss.</a:t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~3 min.</a:t>
            </a:r>
            <a:br>
              <a:rPr lang="en-US"/>
            </a:br>
            <a:br>
              <a:rPr lang="en-US"/>
            </a:br>
            <a:r>
              <a:rPr lang="en-US"/>
              <a:t>Do not skip the red box. Say plainly: the transport comparison is not populated, and the AF_XDP data path was never executed in development — no CAP_NET_ADMIN, no zero-copy-capable driver. The demo is where we close that gap.</a:t>
            </a:r>
            <a:br>
              <a:rPr lang="en-US"/>
            </a:br>
            <a:br>
              <a:rPr lang="en-US"/>
            </a:br>
            <a:r>
              <a:rPr lang="en-US"/>
              <a:t>The dark panel is the best answer to 'how do you know the Bloom filter is not silently losing cache hits?' Rejects equal misses EXACTLY under concurrent adversarial load. If a counter were ever decremented for the wrong key, the filter would report absent for something the map still held, and rejects would exceed misses.</a:t>
            </a:r>
            <a:br>
              <a:rPr lang="en-US"/>
            </a:br>
            <a:br>
              <a:rPr lang="en-US"/>
            </a:br>
            <a:r>
              <a:rPr lang="en-US"/>
              <a:t>Note the offline suite grew from 28 to 66 checks during development — AAAA, EDNS0 negotiation, TCP/53 pipelining, truncation fallback.</a:t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~2 min, then hand to the demo.</a:t>
            </a:r>
            <a:br>
              <a:rPr lang="en-US"/>
            </a:br>
            <a:br>
              <a:rPr lang="en-US"/>
            </a:br>
            <a:r>
              <a:rPr lang="en-US"/>
              <a:t>Challenge 3 is the most transferable and the one to land: both early benchmarks produced numbers that looked completely plausible and were meaningless. That is why we state methodology caveats before anyone asks — the naive UDP control arm, generic XDP not showing bypass, and link parity.</a:t>
            </a:r>
            <a:br>
              <a:rPr lang="en-US"/>
            </a:br>
            <a:br>
              <a:rPr lang="en-US"/>
            </a:br>
            <a:r>
              <a:rPr lang="en-US"/>
              <a:t>Close on the takeaway line.</a:t>
            </a:r>
            <a:br>
              <a:rPr lang="en-US"/>
            </a:br>
            <a:br>
              <a:rPr lang="en-US"/>
            </a:br>
            <a:r>
              <a:rPr lang="en-US"/>
              <a:t>Q&amp;A prep: DNSSEC (not implemented, say so) · why not DPDK (it takes the whole NIC; XDP_PASS keeps the stack alive) · 10G line rate (untested; the backend caps first) · is multi-core speedup linear (don't claim it — show the per-queue RX split).</a:t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640080" y="12801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1 · PROBLEM STATEMENT &amp; OBJECTIVES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6191D"/>
                </a:solidFill>
                <a:latin typeface="Cambria"/>
                <a:ea typeface="Cambria"/>
                <a:cs typeface="Cambria"/>
                <a:sym typeface="Cambria"/>
              </a:rPr>
              <a:t>Why kernel bypass, and what we set out to prove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1143000"/>
            <a:ext cx="10881360" cy="1115568"/>
          </a:xfrm>
          <a:prstGeom prst="roundRect">
            <a:avLst>
              <a:gd fmla="val 4918" name="adj"/>
            </a:avLst>
          </a:prstGeom>
          <a:solidFill>
            <a:srgbClr val="0E1116"/>
          </a:solidFill>
          <a:ln cap="flat" cmpd="sng" w="12700">
            <a:solidFill>
              <a:srgbClr val="0E11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960120" y="126187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DNS query is &lt;100 bytes and must answer in milliseconds.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960120" y="1609344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BA3AF"/>
                </a:solidFill>
                <a:latin typeface="Calibri"/>
                <a:ea typeface="Calibri"/>
                <a:cs typeface="Calibri"/>
                <a:sym typeface="Calibri"/>
              </a:rPr>
              <a:t>Every frame gets an sk_buff, walks IP and UDP, then is copied across the kernel/user boundary. For bulk transfer that per-packet cost amortises over a large payload. For DNS it IS the dominant term.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2450592"/>
            <a:ext cx="10881360" cy="640080"/>
          </a:xfrm>
          <a:prstGeom prst="roundRect">
            <a:avLst>
              <a:gd fmla="val 8571" name="adj"/>
            </a:avLst>
          </a:prstGeom>
          <a:solidFill>
            <a:srgbClr val="F2F4F7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841248" y="2450592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O1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1463040" y="2450592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Build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3474720" y="2450592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Recursive resolver on AF_XDP — XDP redirects UDP/53; user space crafts raw Ethernet/IPv4/UDP/DNS frames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10332720" y="2450592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delivered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40080" y="3209544"/>
            <a:ext cx="1088136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841248" y="3209544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O2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1463040" y="3209544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Control for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3474720" y="3209544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conventional UDP server sharing the identical backend object, so the transport is the only variable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10332720" y="3209544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delivered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40080" y="3968496"/>
            <a:ext cx="10881360" cy="640080"/>
          </a:xfrm>
          <a:prstGeom prst="roundRect">
            <a:avLst>
              <a:gd fmla="val 8571" name="adj"/>
            </a:avLst>
          </a:prstGeom>
          <a:solidFill>
            <a:srgbClr val="F2F4F7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 txBox="1"/>
          <p:nvPr/>
        </p:nvSpPr>
        <p:spPr>
          <a:xfrm>
            <a:off x="841248" y="3968496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O3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1463040" y="3968496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Measure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3474720" y="3968496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Latency, throughput, CPU cost — and the implementation complexity the bypass demands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10332720" y="3968496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40080" y="4727448"/>
            <a:ext cx="1088136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 txBox="1"/>
          <p:nvPr/>
        </p:nvSpPr>
        <p:spPr>
          <a:xfrm>
            <a:off x="841248" y="4727448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O4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1463040" y="4727448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Extend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3474720" y="4727448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Caching + Bloom filter, response validation, multi-core scaling, adversarial testing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10332720" y="4727448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delivered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640080" y="5559552"/>
            <a:ext cx="10881360" cy="749808"/>
          </a:xfrm>
          <a:prstGeom prst="roundRect">
            <a:avLst>
              <a:gd fmla="val 7317" name="adj"/>
            </a:avLst>
          </a:prstGeom>
          <a:solidFill>
            <a:srgbClr val="FFF3CD"/>
          </a:solidFill>
          <a:ln cap="flat" cmpd="sng" w="12700">
            <a:solidFill>
              <a:srgbClr val="FFF3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 txBox="1"/>
          <p:nvPr/>
        </p:nvSpPr>
        <p:spPr>
          <a:xfrm>
            <a:off x="640080" y="5559552"/>
            <a:ext cx="10881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B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5B00"/>
                </a:solidFill>
                <a:latin typeface="Calibri"/>
                <a:ea typeface="Calibri"/>
                <a:cs typeface="Calibri"/>
                <a:sym typeface="Calibri"/>
              </a:rPr>
              <a:t>Scope, stated up front:  no DNSSEC.  Our acceptance rules raise the cost of off-path spoofing — they are structural checks, not authentication.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"/>
          <p:cNvSpPr txBox="1"/>
          <p:nvPr/>
        </p:nvSpPr>
        <p:spPr>
          <a:xfrm>
            <a:off x="640080" y="12801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2 · ARCHITECTURE / MECHANISM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6191D"/>
                </a:solidFill>
                <a:latin typeface="Cambria"/>
                <a:ea typeface="Cambria"/>
                <a:cs typeface="Cambria"/>
                <a:sym typeface="Cambria"/>
              </a:rPr>
              <a:t>Kernel-side problem, or user-side problem?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40080" y="1097280"/>
            <a:ext cx="10881360" cy="1298448"/>
          </a:xfrm>
          <a:prstGeom prst="roundRect">
            <a:avLst>
              <a:gd fmla="val 4225" name="adj"/>
            </a:avLst>
          </a:prstGeom>
          <a:solidFill>
            <a:srgbClr val="FFF6EC"/>
          </a:solidFill>
          <a:ln cap="flat" cmpd="sng" w="12700">
            <a:solidFill>
              <a:srgbClr val="FFF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 txBox="1"/>
          <p:nvPr/>
        </p:nvSpPr>
        <p:spPr>
          <a:xfrm>
            <a:off x="896112" y="11978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KERNEL SIDE  ·  per interface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896112" y="1490472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6191D"/>
                </a:solidFill>
                <a:latin typeface="Courier New"/>
                <a:ea typeface="Courier New"/>
                <a:cs typeface="Courier New"/>
                <a:sym typeface="Courier New"/>
              </a:rPr>
              <a:t>NIC → XDP → bpf_redirect_map(&amp;xsks_map, ctx-&gt;rx_queue_index) → XSK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896112" y="178308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Classifies IPv4 · unfragmented · UDP/53 · 12-byte DNS header · QR=0 · QDCOUNT=1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6191D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Fallback XDP_PASS not XDP_ABORTED — degrades to a normal host, never blackholes :53. Counters in PERCPU_ARRAY, no bpf_printk on the hot path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40080" y="2514600"/>
            <a:ext cx="10881360" cy="1481328"/>
          </a:xfrm>
          <a:prstGeom prst="roundRect">
            <a:avLst>
              <a:gd fmla="val 3704" name="adj"/>
            </a:avLst>
          </a:prstGeom>
          <a:solidFill>
            <a:srgbClr val="EBFBF9"/>
          </a:solidFill>
          <a:ln cap="flat" cmpd="sng" w="12700">
            <a:solidFill>
              <a:srgbClr val="EBF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 txBox="1"/>
          <p:nvPr/>
        </p:nvSpPr>
        <p:spPr>
          <a:xfrm>
            <a:off x="896112" y="261518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F8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8F85"/>
                </a:solidFill>
                <a:latin typeface="Calibri"/>
                <a:ea typeface="Calibri"/>
                <a:cs typeface="Calibri"/>
                <a:sym typeface="Calibri"/>
              </a:rPr>
              <a:t>USER SIDE  ·  per RX queue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896112" y="2907792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6191D"/>
                </a:solidFill>
                <a:latin typeface="Courier New"/>
                <a:ea typeface="Courier New"/>
                <a:cs typeface="Courier New"/>
                <a:sym typeface="Courier New"/>
              </a:rPr>
              <a:t>RX ring → parse + copy out → job queue → N workers → done queue → TX 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896112" y="320040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UMEM + 4 SPSC rings. Exactly ONE thread owns a socket's rings and frame allocator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6191D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Workers compute bytes only — answers return via mutex + eventfd, never a 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6191D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RX frame recycled BEFORE resolution, so a ~1 s iterative walk cannot starve the FILL 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40080" y="4114800"/>
            <a:ext cx="6949440" cy="2240280"/>
          </a:xfrm>
          <a:prstGeom prst="roundRect">
            <a:avLst>
              <a:gd fmla="val 2449" name="adj"/>
            </a:avLst>
          </a:prstGeom>
          <a:solidFill>
            <a:srgbClr val="0E1116"/>
          </a:solidFill>
          <a:ln cap="flat" cmpd="sng" w="12700">
            <a:solidFill>
              <a:srgbClr val="0E11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 txBox="1"/>
          <p:nvPr/>
        </p:nvSpPr>
        <p:spPr>
          <a:xfrm>
            <a:off x="914400" y="4224528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Why one ring owner — the bug we designed out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914400" y="4553712"/>
            <a:ext cx="6400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2A65A"/>
                </a:solidFill>
                <a:latin typeface="Courier New"/>
                <a:ea typeface="Courier New"/>
                <a:cs typeface="Courier New"/>
                <a:sym typeface="Courier New"/>
              </a:rPr>
              <a:t>*idx = prod-&gt;cached_prod;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2A65A"/>
                </a:solidFill>
                <a:latin typeface="Courier New"/>
                <a:ea typeface="Courier New"/>
                <a:cs typeface="Courier New"/>
                <a:sym typeface="Courier New"/>
              </a:rPr>
              <a:t>prod-&gt;cached_prod += nb;    /* non-atomic RMW */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914400" y="5193792"/>
            <a:ext cx="6446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BA3AF"/>
                </a:solidFill>
                <a:latin typeface="Calibri"/>
                <a:ea typeface="Calibri"/>
                <a:cs typeface="Calibri"/>
                <a:sym typeface="Calibri"/>
              </a:rPr>
              <a:t>The natural design — every worker sends its own reply — compiles, runs, and passes a dig test. Two threads reserving at once get the SAME index. It surfaces as packet loss, so you conclude "AF_XDP is lossy", not "we have a data race."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863840" y="4114800"/>
            <a:ext cx="3383280" cy="2240280"/>
          </a:xfrm>
          <a:prstGeom prst="roundRect">
            <a:avLst>
              <a:gd fmla="val 2449" name="adj"/>
            </a:avLst>
          </a:prstGeom>
          <a:solidFill>
            <a:srgbClr val="F2F4F7"/>
          </a:solidFill>
          <a:ln cap="flat" cmpd="sng" w="12700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 txBox="1"/>
          <p:nvPr/>
        </p:nvSpPr>
        <p:spPr>
          <a:xfrm>
            <a:off x="8092440" y="4224528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6191D"/>
                </a:solidFill>
                <a:latin typeface="Cambria"/>
                <a:ea typeface="Cambria"/>
                <a:cs typeface="Cambria"/>
                <a:sym typeface="Cambria"/>
              </a:rPr>
              <a:t>One variable, not two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8092440" y="45720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6191D"/>
                </a:solidFill>
                <a:latin typeface="Courier New"/>
                <a:ea typeface="Courier New"/>
                <a:cs typeface="Courier New"/>
                <a:sym typeface="Courier New"/>
              </a:rPr>
              <a:t>AF_XDP  af_xdp_user   _stub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6191D"/>
                </a:solidFill>
                <a:latin typeface="Courier New"/>
                <a:ea typeface="Courier New"/>
                <a:cs typeface="Courier New"/>
                <a:sym typeface="Courier New"/>
              </a:rPr>
              <a:t>UDP     server        _stub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092440" y="512064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Both rows link the SAME compiled dns_backend.o — not a copy. Otherwise a measured difference is a difference between two programs, not two transports.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640080" y="12801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3 · EXTENSIONS, ISSUES FIXED, 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6191D"/>
                </a:solidFill>
                <a:latin typeface="Cambria"/>
                <a:ea typeface="Cambria"/>
                <a:cs typeface="Cambria"/>
                <a:sym typeface="Cambria"/>
              </a:rPr>
              <a:t>Design hypothesis, confirmed by measurement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40080" y="1078992"/>
            <a:ext cx="3456432" cy="1051560"/>
          </a:xfrm>
          <a:prstGeom prst="roundRect">
            <a:avLst>
              <a:gd fmla="val 5217" name="adj"/>
            </a:avLst>
          </a:prstGeom>
          <a:solidFill>
            <a:srgbClr val="F2F4F7"/>
          </a:solidFill>
          <a:ln cap="flat" cmpd="sng" w="12700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 txBox="1"/>
          <p:nvPr/>
        </p:nvSpPr>
        <p:spPr>
          <a:xfrm>
            <a:off x="822960" y="11430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Counting Bloom filter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822960" y="1417320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miss never takes the cache mutex. Counting, not bits — this cache deletes (LRU + TTL); a bit filter would silently decay to "always maybe".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297680" y="1078992"/>
            <a:ext cx="3456432" cy="1051560"/>
          </a:xfrm>
          <a:prstGeom prst="roundRect">
            <a:avLst>
              <a:gd fmla="val 5217" name="adj"/>
            </a:avLst>
          </a:prstGeom>
          <a:solidFill>
            <a:srgbClr val="F2F4F7"/>
          </a:solidFill>
          <a:ln cap="flat" cmpd="sng" w="12700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4480560" y="11430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Acceptance rules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4480560" y="1417320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Bailiwick · CNAME-chain membership · referral progress · getrandom() txids · question matching · read persistence.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7955280" y="1078992"/>
            <a:ext cx="3456432" cy="1051560"/>
          </a:xfrm>
          <a:prstGeom prst="roundRect">
            <a:avLst>
              <a:gd fmla="val 5217" name="adj"/>
            </a:avLst>
          </a:prstGeom>
          <a:solidFill>
            <a:srgbClr val="F2F4F7"/>
          </a:solidFill>
          <a:ln cap="flat" cmpd="sng" w="12700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 txBox="1"/>
          <p:nvPr/>
        </p:nvSpPr>
        <p:spPr>
          <a:xfrm>
            <a:off x="8138160" y="11430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Multi-queue scaling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8138160" y="1417320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One socket, UMEM, ring set and pinned thread per RX queue. Kernel side needed no change at all.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240280"/>
            <a:ext cx="5943600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6675120" y="2240280"/>
            <a:ext cx="4663440" cy="3154680"/>
          </a:xfrm>
          <a:prstGeom prst="roundRect">
            <a:avLst>
              <a:gd fmla="val 1739" name="adj"/>
            </a:avLst>
          </a:prstGeom>
          <a:solidFill>
            <a:srgbClr val="0E1116"/>
          </a:solidFill>
          <a:ln cap="flat" cmpd="sng" w="12700">
            <a:solidFill>
              <a:srgbClr val="0E11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 txBox="1"/>
          <p:nvPr/>
        </p:nvSpPr>
        <p:spPr>
          <a:xfrm>
            <a:off x="6903720" y="23591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hypothesis was testable — and it held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6903720" y="2670048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9BA3AF"/>
                </a:solidFill>
                <a:latin typeface="Courier New"/>
                <a:ea typeface="Courier New"/>
                <a:cs typeface="Courier New"/>
                <a:sym typeface="Courier New"/>
              </a:rPr>
              <a:t>threads   bloom   none   speedup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6903720" y="2907792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EC4B6"/>
                </a:solidFill>
                <a:latin typeface="Courier New"/>
                <a:ea typeface="Courier New"/>
                <a:cs typeface="Courier New"/>
                <a:sym typeface="Courier New"/>
              </a:rPr>
              <a:t>   1       121    168    1.38×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EC4B6"/>
                </a:solidFill>
                <a:latin typeface="Courier New"/>
                <a:ea typeface="Courier New"/>
                <a:cs typeface="Courier New"/>
                <a:sym typeface="Courier New"/>
              </a:rPr>
              <a:t>   2       285    794    2.78×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EC4B6"/>
                </a:solidFill>
                <a:latin typeface="Courier New"/>
                <a:ea typeface="Courier New"/>
                <a:cs typeface="Courier New"/>
                <a:sym typeface="Courier New"/>
              </a:rPr>
              <a:t>   4       491   1522    3.10×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EC4B6"/>
                </a:solidFill>
                <a:latin typeface="Courier New"/>
                <a:ea typeface="Courier New"/>
                <a:cs typeface="Courier New"/>
                <a:sym typeface="Courier New"/>
              </a:rPr>
              <a:t>   8      1068   4051    3.79×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6903720" y="3913632"/>
            <a:ext cx="4206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the saving were only four byte loads, speedup would be FLAT across thread counts. It is monotonic — so the saving really is the skipped mutex.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6903720" y="452628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A3AF"/>
                </a:solidFill>
                <a:latin typeface="Calibri"/>
                <a:ea typeface="Calibri"/>
                <a:cs typeface="Calibri"/>
                <a:sym typeface="Calibri"/>
              </a:rPr>
              <a:t>Throughput:  with filter 7.0–8.2 Mlookup/s, flat.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A3AF"/>
                </a:solidFill>
                <a:latin typeface="Calibri"/>
                <a:ea typeface="Calibri"/>
                <a:cs typeface="Calibri"/>
                <a:sym typeface="Calibri"/>
              </a:rPr>
              <a:t>Without:  5.93 → 1.96 Mlookup/s as contention bites.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6903720" y="5047488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BA3AF"/>
                </a:solidFill>
                <a:latin typeface="Calibri"/>
                <a:ea typeface="Calibri"/>
                <a:cs typeface="Calibri"/>
                <a:sym typeface="Calibri"/>
              </a:rPr>
              <a:t>FP rate 0.024–0.068% measured, vs 0.24% predicted.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40080" y="5532120"/>
            <a:ext cx="7223760" cy="868680"/>
          </a:xfrm>
          <a:prstGeom prst="roundRect">
            <a:avLst>
              <a:gd fmla="val 6316" name="adj"/>
            </a:avLst>
          </a:prstGeom>
          <a:solidFill>
            <a:srgbClr val="FDECEC"/>
          </a:solidFill>
          <a:ln cap="flat" cmpd="sng" w="12700">
            <a:solidFill>
              <a:srgbClr val="FD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841248" y="5596128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Issues our own tests found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841248" y="585216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TC bit read from uninitialised memory (intermittent dig failures)  ·  case-sensitive hash vs case-insensitive compare  ·  memcpy from NULL  ·  TCP listener started twice  ·  Bloom's own atomic counters were a 10% regression  ·  teardown could close stdin  ·  a concurrency test that tested nothing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8138160" y="5532120"/>
            <a:ext cx="3200400" cy="868680"/>
          </a:xfrm>
          <a:prstGeom prst="roundRect">
            <a:avLst>
              <a:gd fmla="val 6316" name="adj"/>
            </a:avLst>
          </a:prstGeom>
          <a:solidFill>
            <a:srgbClr val="F2F4F7"/>
          </a:solidFill>
          <a:ln cap="flat" cmpd="sng" w="12700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 txBox="1"/>
          <p:nvPr/>
        </p:nvSpPr>
        <p:spPr>
          <a:xfrm>
            <a:off x="8229600" y="55778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3FB950"/>
                </a:solidFill>
                <a:latin typeface="Cambria"/>
                <a:ea typeface="Cambria"/>
                <a:cs typeface="Cambria"/>
                <a:sym typeface="Cambria"/>
              </a:rPr>
              <a:t>7 / 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9326880" y="562356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poisoning attacks defeated 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verified in the answer AND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 the cache afterwards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/>
        </p:nvSpPr>
        <p:spPr>
          <a:xfrm>
            <a:off x="640080" y="12801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4 · NON-FUNCTIONAL TESTING PARAMETERS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6191D"/>
                </a:solidFill>
                <a:latin typeface="Cambria"/>
                <a:ea typeface="Cambria"/>
                <a:cs typeface="Cambria"/>
                <a:sym typeface="Cambria"/>
              </a:rPr>
              <a:t>Testable without a NIC, root, or network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40080" y="1097280"/>
            <a:ext cx="10881360" cy="749808"/>
          </a:xfrm>
          <a:prstGeom prst="roundRect">
            <a:avLst>
              <a:gd fmla="val 7317" name="adj"/>
            </a:avLst>
          </a:prstGeom>
          <a:solidFill>
            <a:srgbClr val="F2F4F7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 txBox="1"/>
          <p:nvPr/>
        </p:nvSpPr>
        <p:spPr>
          <a:xfrm>
            <a:off x="868680" y="1152144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3383280" y="1152144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Cold-path lookup 168 → 121 ns single-threaded; 4051 → 1068 ns at 8 threads. 89.5–89.8% of lookups bypassed the mutex entirely at every thread count.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40080" y="1938528"/>
            <a:ext cx="10881360" cy="749808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 txBox="1"/>
          <p:nvPr/>
        </p:nvSpPr>
        <p:spPr>
          <a:xfrm>
            <a:off x="868680" y="1993392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3383280" y="1993392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Per-RX-queue sockets and pinned threads; verified by the per-queue RX split. Bloom throughput stays flat 7.0–8.2 Mlookup/s across 1→8 threads where the baseline collapses 3×.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40080" y="2779776"/>
            <a:ext cx="10881360" cy="749808"/>
          </a:xfrm>
          <a:prstGeom prst="roundRect">
            <a:avLst>
              <a:gd fmla="val 7317" name="adj"/>
            </a:avLst>
          </a:prstGeom>
          <a:solidFill>
            <a:srgbClr val="F2F4F7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 txBox="1"/>
          <p:nvPr/>
        </p:nvSpPr>
        <p:spPr>
          <a:xfrm>
            <a:off x="868680" y="283464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3383280" y="2834640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329 automated checks, 0 failures: 227 unit (ASan+UBSan) · 66 offline integration · 36 adversarial. 0 ThreadSanitizer warnings. BPF verifier accepts the object.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40080" y="3621024"/>
            <a:ext cx="10881360" cy="749808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 txBox="1"/>
          <p:nvPr/>
        </p:nvSpPr>
        <p:spPr>
          <a:xfrm>
            <a:off x="868680" y="3675888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3383280" y="3675888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7 cache-poisoning attacks from a hostile root/TLD/auth hierarchy, each verified both in the returned answer and in the cache afterwards.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40080" y="4462272"/>
            <a:ext cx="10881360" cy="749808"/>
          </a:xfrm>
          <a:prstGeom prst="roundRect">
            <a:avLst>
              <a:gd fmla="val 7317" name="adj"/>
            </a:avLst>
          </a:prstGeom>
          <a:solidFill>
            <a:srgbClr val="F2F4F7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 txBox="1"/>
          <p:nvPr/>
        </p:nvSpPr>
        <p:spPr>
          <a:xfrm>
            <a:off x="868680" y="4517136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Correctness under load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3383280" y="4517136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16–24 threads driving hot names, cold names, attack names and 4000 churn names simultaneously, so Bloom counters move in both directions while lookups race them.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2571356" y="5349240"/>
            <a:ext cx="7223700" cy="960000"/>
          </a:xfrm>
          <a:prstGeom prst="roundRect">
            <a:avLst>
              <a:gd fmla="val 5714" name="adj"/>
            </a:avLst>
          </a:prstGeom>
          <a:solidFill>
            <a:srgbClr val="0E1116"/>
          </a:solidFill>
          <a:ln cap="flat" cmpd="sng" w="12700">
            <a:solidFill>
              <a:srgbClr val="0E11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 txBox="1"/>
          <p:nvPr/>
        </p:nvSpPr>
        <p:spPr>
          <a:xfrm>
            <a:off x="2845676" y="5422392"/>
            <a:ext cx="676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cross-check that proves the features coexist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2845676" y="5705856"/>
            <a:ext cx="676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EC4B6"/>
                </a:solidFill>
                <a:latin typeface="Courier New"/>
                <a:ea typeface="Courier New"/>
                <a:cs typeface="Courier New"/>
                <a:sym typeface="Courier New"/>
              </a:rPr>
              <a:t>hits 286 + misses 2572 = bloom lookups 2858      bloom rejects 2572 == misses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2845676" y="5971032"/>
            <a:ext cx="676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3A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BA3AF"/>
                </a:solidFill>
                <a:latin typeface="Calibri"/>
                <a:ea typeface="Calibri"/>
                <a:cs typeface="Calibri"/>
                <a:sym typeface="Calibri"/>
              </a:rPr>
              <a:t>Exact, under adversarial concurrent load. A counter decremented for the wrong key would make rejects exceed misses.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/>
        </p:nvSpPr>
        <p:spPr>
          <a:xfrm>
            <a:off x="640080" y="12801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5 · CHALLENGES FACED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6191D"/>
                </a:solidFill>
                <a:latin typeface="Cambria"/>
                <a:ea typeface="Cambria"/>
                <a:cs typeface="Cambria"/>
                <a:sym typeface="Cambria"/>
              </a:rPr>
              <a:t>What actually cost us time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40080" y="1097280"/>
            <a:ext cx="10881360" cy="896112"/>
          </a:xfrm>
          <a:prstGeom prst="roundRect">
            <a:avLst>
              <a:gd fmla="val 6122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841248" y="1298448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2A65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1508760" y="1188720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Correctness without a data path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1508760" y="146304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One CPU, no CAP_NET_ADMIN, no zero-copy driver. Every ring-safety conclusion came from reading libxdp's ring implementation and building user-space tests with the same concurrency shape — not from watching it fail.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40080" y="2084832"/>
            <a:ext cx="10881360" cy="896112"/>
          </a:xfrm>
          <a:prstGeom prst="roundRect">
            <a:avLst>
              <a:gd fmla="val 6122" name="adj"/>
            </a:avLst>
          </a:prstGeom>
          <a:solidFill>
            <a:srgbClr val="F2F4F7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841248" y="228600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1508760" y="217627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Benign races vs real 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1508760" y="245059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Bloom read is lock-free. Arguing it is safe meant enumerating both race directions and showing each is harmless. TSan validates the mechanics; only the rejects == misses identity validates the semantics.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40080" y="3072384"/>
            <a:ext cx="10881360" cy="896112"/>
          </a:xfrm>
          <a:prstGeom prst="roundRect">
            <a:avLst>
              <a:gd fmla="val 6122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841248" y="3273552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5484D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1508760" y="3163824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Benchmarks that measured the wrong thing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1508760" y="3438144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Our first Bloom benchmark was dominated by snprintf inside the timed loop. Our first harness compared loopback against veth. Both produced plausible, meaningless numbers.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40080" y="4059936"/>
            <a:ext cx="10881360" cy="896112"/>
          </a:xfrm>
          <a:prstGeom prst="roundRect">
            <a:avLst>
              <a:gd fmla="val 6122" name="adj"/>
            </a:avLst>
          </a:prstGeom>
          <a:solidFill>
            <a:srgbClr val="F2F4F7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841248" y="4261104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5484D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1508760" y="415137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Attacks the textbook rule misses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1508760" y="4425696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record injected INSIDE a server's own zone but off the CNAME chain passes a bailiwick check. Finding it meant working the attack model, not implementing the standard rule and stopping.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40080" y="5047488"/>
            <a:ext cx="10881360" cy="896112"/>
          </a:xfrm>
          <a:prstGeom prst="roundRect">
            <a:avLst>
              <a:gd fmla="val 6122" name="adj"/>
            </a:avLst>
          </a:prstGeom>
          <a:solidFill>
            <a:srgbClr val="FFFFFF"/>
          </a:solidFill>
          <a:ln cap="flat" cmpd="sng" w="12700">
            <a:solidFill>
              <a:srgbClr val="E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841248" y="5248656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6B7280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1508760" y="5138928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9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191D"/>
                </a:solidFill>
                <a:latin typeface="Calibri"/>
                <a:ea typeface="Calibri"/>
                <a:cs typeface="Calibri"/>
                <a:sym typeface="Calibri"/>
              </a:rPr>
              <a:t>Tests that pass without 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1508760" y="541324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B7 reported green while exercising nothing — key chosen as seed % N, branch on seed &amp; 1, so puts hit only odd keys and gets only even. A hit rate of exactly 0.0% gave it away.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40080" y="6080760"/>
            <a:ext cx="10881360" cy="658368"/>
          </a:xfrm>
          <a:prstGeom prst="roundRect">
            <a:avLst>
              <a:gd fmla="val 8333" name="adj"/>
            </a:avLst>
          </a:prstGeom>
          <a:solidFill>
            <a:srgbClr val="0E1116"/>
          </a:solidFill>
          <a:ln cap="flat" cmpd="sng" w="12700">
            <a:solidFill>
              <a:srgbClr val="0E11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640080" y="6080760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Takeaway: kernel bypass moves the bottleneck, it does not remove it — our backend still blocks on upstream DNS for ~1 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